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365760"/>
            <a:ext cx="94484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1B55AC"/>
                </a:solidFill>
                <a:latin typeface="Arial"/>
              </a:defRPr>
            </a:pPr>
            <a:r>
              <a:t>SMART INDIA HACKATHON 2025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6217920" cy="4846320"/>
          </a:xfrm>
          <a:prstGeom prst="roundRect">
            <a:avLst/>
          </a:prstGeom>
          <a:solidFill>
            <a:srgbClr val="F8FAFE"/>
          </a:solidFill>
          <a:ln w="19050"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20040"/>
          <a:lstStyle/>
          <a:p>
            <a:pPr algn="ctr">
              <a:spcAft>
                <a:spcPts val="1200"/>
              </a:spcAft>
            </a:pPr>
            <a:r>
              <a:rPr sz="1300" b="1">
                <a:solidFill>
                  <a:srgbClr val="0E1E40"/>
                </a:solidFill>
                <a:latin typeface="Arial"/>
              </a:rPr>
              <a:t>•  Problem Statement ID: </a:t>
            </a:r>
            <a:r>
              <a:rPr sz="1300" b="1">
                <a:solidFill>
                  <a:srgbClr val="1B55AC"/>
                </a:solidFill>
                <a:latin typeface="Arial"/>
              </a:rPr>
              <a:t>SIH25-NUMM (One Nation - One Material Code)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1E40"/>
                </a:solidFill>
                <a:latin typeface="Arial"/>
              </a:rPr>
              <a:t>•  Problem Statement Title: </a:t>
            </a:r>
            <a:r>
              <a:rPr sz="1300" b="1">
                <a:solidFill>
                  <a:srgbClr val="1B55AC"/>
                </a:solidFill>
                <a:latin typeface="Arial"/>
              </a:rPr>
              <a:t>NATIONAL UNIFIED MATERIAL MASTER (NUMM):
AI-DRIVEN HARMONIZATION &amp; DEDUPLICATION FOR CPSEs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1E40"/>
                </a:solidFill>
                <a:latin typeface="Arial"/>
              </a:rPr>
              <a:t>•  Theme: </a:t>
            </a:r>
            <a:r>
              <a:rPr sz="1300" b="0">
                <a:solidFill>
                  <a:srgbClr val="282828"/>
                </a:solidFill>
                <a:latin typeface="Arial"/>
              </a:rPr>
              <a:t>SUPPLY CHAIN &amp; LOGISTICS / SMART AUTOMATION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1E40"/>
                </a:solidFill>
                <a:latin typeface="Arial"/>
              </a:rPr>
              <a:t>•  PS Category: </a:t>
            </a:r>
            <a:r>
              <a:rPr sz="1300" b="0">
                <a:solidFill>
                  <a:srgbClr val="282828"/>
                </a:solidFill>
                <a:latin typeface="Arial"/>
              </a:rPr>
              <a:t>Software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1E40"/>
                </a:solidFill>
                <a:latin typeface="Arial"/>
              </a:rPr>
              <a:t>•  Team ID: </a:t>
            </a:r>
            <a:r>
              <a:rPr sz="1300" b="0">
                <a:solidFill>
                  <a:srgbClr val="282828"/>
                </a:solidFill>
                <a:latin typeface="Arial"/>
              </a:rPr>
              <a:t>92770</a:t>
            </a:r>
          </a:p>
          <a:p>
            <a:pPr>
              <a:spcAft>
                <a:spcPts val="1200"/>
              </a:spcAft>
            </a:pPr>
            <a:r>
              <a:rPr sz="1300" b="1">
                <a:solidFill>
                  <a:srgbClr val="0E1E40"/>
                </a:solidFill>
                <a:latin typeface="Arial"/>
              </a:rPr>
              <a:t>•  Team Name: </a:t>
            </a:r>
            <a:r>
              <a:rPr sz="1300" b="0">
                <a:solidFill>
                  <a:srgbClr val="282828"/>
                </a:solidFill>
                <a:latin typeface="Arial"/>
              </a:rPr>
              <a:t>404 The Optimists / Team NUMM</a:t>
            </a:r>
          </a:p>
        </p:txBody>
      </p:sp>
      <p:pic>
        <p:nvPicPr>
          <p:cNvPr id="5" name="Picture 4" descr="title_slide_banner_17890595723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371600"/>
            <a:ext cx="438912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B55AC"/>
                </a:solidFill>
                <a:latin typeface="Arial"/>
              </a:defRPr>
            </a:pPr>
            <a:r>
              <a:t>NUMM: AI-Powered Unified Material Master Platform</a:t>
            </a:r>
            <a:br/>
            <a:r>
              <a:t>Revolutionizing CPSE Supply Chain &amp; Procurement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64008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1B5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E1E40"/>
                </a:solidFill>
              </a:defRPr>
            </a:pPr>
            <a:r>
              <a:t>Team NUMM</a:t>
            </a:r>
            <a:br/>
            <a:r>
              <a:t>(SIH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537960"/>
            <a:ext cx="3962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@SIH Idea submission- Template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840480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D7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/>
          <a:lstStyle/>
          <a:p>
            <a:pPr algn="ctr">
              <a:spcBef>
                <a:spcPts val="400"/>
              </a:spcBef>
              <a:spcAft>
                <a:spcPts val="1000"/>
              </a:spcAft>
            </a:pPr>
            <a:r>
              <a:rPr b="1" sz="1200">
                <a:solidFill>
                  <a:srgbClr val="DC3545"/>
                </a:solidFill>
              </a:rPr>
              <a:t>Real-world issue: </a:t>
            </a:r>
            <a:r>
              <a:rPr sz="1100">
                <a:solidFill>
                  <a:srgbClr val="282828"/>
                </a:solidFill>
              </a:rPr>
              <a:t>10+ CPSEs (ONGC, BHEL, SAIL, IOCL, GAIL) operate isolated ERPs, holding duplicate spare parts under disparate names and fragmented catalog schemas.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200">
                <a:solidFill>
                  <a:srgbClr val="F58220"/>
                </a:solidFill>
              </a:rPr>
              <a:t>Why important: </a:t>
            </a:r>
            <a:r>
              <a:rPr sz="1100">
                <a:solidFill>
                  <a:srgbClr val="282828"/>
                </a:solidFill>
              </a:rPr>
              <a:t>India's CPSEs incur ₹15,000+ Crores annually in redundant procurement, duplicate safety stocks, and lost bulk-purchasing discounts due to unaligned material codes.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200">
                <a:solidFill>
                  <a:srgbClr val="28A745"/>
                </a:solidFill>
              </a:rPr>
              <a:t>Solution: </a:t>
            </a:r>
            <a:r>
              <a:rPr sz="1100">
                <a:solidFill>
                  <a:srgbClr val="282828"/>
                </a:solidFill>
              </a:rPr>
              <a:t>An AI platform combining Sentence-Transformers (all-MiniLM-L6-v2) &amp; UNSPSC zero-shot classification to detect cross-enterprise duplicates and assign authoritative National Material Codes (NMCs).</a:t>
            </a:r>
          </a:p>
          <a:p>
            <a:pPr>
              <a:spcBef>
                <a:spcPts val="400"/>
              </a:spcBef>
              <a:spcAft>
                <a:spcPts val="1000"/>
              </a:spcAft>
            </a:pPr>
            <a:r>
              <a:rPr b="1" sz="1200">
                <a:solidFill>
                  <a:srgbClr val="1B55AC"/>
                </a:solidFill>
              </a:rPr>
              <a:t>Prototype Scope: </a:t>
            </a:r>
            <a:r>
              <a:rPr sz="1100">
                <a:solidFill>
                  <a:srgbClr val="282828"/>
                </a:solidFill>
              </a:rPr>
              <a:t>Live 3-tier platform with 909 realistic CPSE materials pre-seeded, real-time WebSocket diff workbench, and SAP/ERP REST integration gateway.</a:t>
            </a:r>
          </a:p>
        </p:txBody>
      </p:sp>
      <p:pic>
        <p:nvPicPr>
          <p:cNvPr id="6" name="Picture 5" descr="dedup_workflow_178905989996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393192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686800" y="1188720"/>
            <a:ext cx="3017520" cy="5120640"/>
          </a:xfrm>
          <a:prstGeom prst="roundRect">
            <a:avLst/>
          </a:prstGeom>
          <a:solidFill>
            <a:srgbClr val="F5F8FD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200"/>
              </a:spcAft>
              <a:defRPr b="1" sz="1500">
                <a:solidFill>
                  <a:srgbClr val="0E1E40"/>
                </a:solidFill>
              </a:defRPr>
            </a:pPr>
            <a:r>
              <a:t>Risk  vs  Solution</a:t>
            </a:r>
          </a:p>
          <a:p>
            <a:r>
              <a:rPr b="1" sz="950">
                <a:solidFill>
                  <a:srgbClr val="DC3545"/>
                </a:solidFill>
              </a:rPr>
              <a:t>⚠️ Fragmented Item Catalogs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8A745"/>
                </a:solidFill>
              </a:rPr>
              <a:t>✅ National Material Code (NMC) Registry</a:t>
            </a:r>
          </a:p>
          <a:p>
            <a:r>
              <a:rPr b="1" sz="950">
                <a:solidFill>
                  <a:srgbClr val="DC3545"/>
                </a:solidFill>
              </a:rPr>
              <a:t>⚠️ Redundant Procurement Spend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8A745"/>
                </a:solidFill>
              </a:rPr>
              <a:t>✅ Cross-CPSE Bulk Pooling &amp; Inter-Lending</a:t>
            </a:r>
          </a:p>
          <a:p>
            <a:r>
              <a:rPr b="1" sz="950">
                <a:solidFill>
                  <a:srgbClr val="DC3545"/>
                </a:solidFill>
              </a:rPr>
              <a:t>⚠️ Manual Cataloging Delays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8A745"/>
                </a:solidFill>
              </a:rPr>
              <a:t>✅ Automated Zero-Shot AI Classification</a:t>
            </a:r>
          </a:p>
          <a:p>
            <a:r>
              <a:rPr b="1" sz="950">
                <a:solidFill>
                  <a:srgbClr val="DC3545"/>
                </a:solidFill>
              </a:rPr>
              <a:t>⚠️ Accidental False Mergers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8A745"/>
                </a:solidFill>
              </a:rPr>
              <a:t>✅ Human-in-the-Loop Diff Workbench (A/R/E/N)</a:t>
            </a:r>
          </a:p>
          <a:p>
            <a:r>
              <a:rPr b="1" sz="950">
                <a:solidFill>
                  <a:srgbClr val="DC3545"/>
                </a:solidFill>
              </a:rPr>
              <a:t>⚠️ Audit Compliance Risks</a:t>
            </a:r>
          </a:p>
          <a:p>
            <a:pPr>
              <a:spcAft>
                <a:spcPts val="600"/>
              </a:spcAft>
            </a:pPr>
            <a:r>
              <a:rPr b="1" sz="950">
                <a:solidFill>
                  <a:srgbClr val="28A745"/>
                </a:solidFill>
              </a:rPr>
              <a:t>✅ Immutable Cryptographic Audit Trail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B55AC"/>
                </a:solidFill>
                <a:latin typeface="Arial"/>
              </a:defRPr>
            </a:pPr>
            <a:r>
              <a:t>TECHNICAL APPROACH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64008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1B5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E1E40"/>
                </a:solidFill>
              </a:defRPr>
            </a:pPr>
            <a:r>
              <a:t>Team NUMM</a:t>
            </a:r>
            <a:br/>
            <a:r>
              <a:t>(SIH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537960"/>
            <a:ext cx="3962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@SIH Idea submission- Template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D7E4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E1E40"/>
                </a:solidFill>
              </a:defRPr>
            </a:pPr>
            <a:r>
              <a:t>METHODOLOGY &amp; PIPELINE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55AC"/>
                </a:solidFill>
              </a:rPr>
              <a:t>1. Data Ingestion &amp; Validation
</a:t>
            </a:r>
            <a:r>
              <a:rPr sz="950">
                <a:solidFill>
                  <a:srgbClr val="282828"/>
                </a:solidFill>
              </a:rPr>
              <a:t>Drag-drop CSV or REST APIs; client-side schema validation &amp; column mapper across 10 CPSE catalogs.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55AC"/>
                </a:solidFill>
              </a:rPr>
              <a:t>2. UNSPSC Taxonomy Classification
</a:t>
            </a:r>
            <a:r>
              <a:rPr sz="950">
                <a:solidFill>
                  <a:srgbClr val="282828"/>
                </a:solidFill>
              </a:rPr>
              <a:t>Zero-shot classification against 1,500+ UNSPSC commodity hierarchies with calibrated confidence scores.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55AC"/>
                </a:solidFill>
              </a:rPr>
              <a:t>3. Deep Semantic Vectorization
</a:t>
            </a:r>
            <a:r>
              <a:rPr sz="950">
                <a:solidFill>
                  <a:srgbClr val="282828"/>
                </a:solidFill>
              </a:rPr>
              <a:t>Material descriptions encoded via all-MiniLM-L6-v2 (384-dim dense vectors) with Scikit-Learn TF-IDF fallback.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55AC"/>
                </a:solidFill>
              </a:rPr>
              <a:t>4. Cross-Enterprise Duplicate Detection
</a:t>
            </a:r>
            <a:r>
              <a:rPr sz="950">
                <a:solidFill>
                  <a:srgbClr val="282828"/>
                </a:solidFill>
              </a:rPr>
              <a:t>Pairwise cosine similarity matrix partitioned by UNSPSC class; dynamic similarity threshold slider (0–100%).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55AC"/>
                </a:solidFill>
              </a:rPr>
              <a:t>5. Harmonization Workbench
</a:t>
            </a:r>
            <a:r>
              <a:rPr sz="950">
                <a:solidFill>
                  <a:srgbClr val="282828"/>
                </a:solidFill>
              </a:rPr>
              <a:t>Reviewer approval workflow with side-by-side spec diffs, keyboard accelerators (A/R/E/N), &amp; auto NMC generation.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1B55AC"/>
                </a:solidFill>
              </a:rPr>
              <a:t>6. ERP Integration &amp; Webhook Sync
</a:t>
            </a:r>
            <a:r>
              <a:rPr sz="950">
                <a:solidFill>
                  <a:srgbClr val="282828"/>
                </a:solidFill>
              </a:rPr>
              <a:t>REST APIs, Swagger documentation, and real-time webhook push to SAP, Oracle, and GeM portals.</a:t>
            </a:r>
          </a:p>
        </p:txBody>
      </p:sp>
      <p:pic>
        <p:nvPicPr>
          <p:cNvPr id="6" name="Picture 5" descr="numm_architecture_17890598857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29768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144000" y="1188720"/>
            <a:ext cx="2560320" cy="5120640"/>
          </a:xfrm>
          <a:prstGeom prst="roundRect">
            <a:avLst/>
          </a:prstGeom>
          <a:solidFill>
            <a:srgbClr val="F5F8FD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0E1E40"/>
                </a:solidFill>
              </a:defRPr>
            </a:pPr>
            <a:r>
              <a:t>TECHNOLOGIES USED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B55AC"/>
                </a:solidFill>
              </a:rPr>
              <a:t>🔹 Frontend Layer
</a:t>
            </a:r>
            <a:r>
              <a:rPr sz="950">
                <a:solidFill>
                  <a:srgbClr val="282828"/>
                </a:solidFill>
              </a:rPr>
              <a:t>React 18, Vite, TypeScript, Tailwind CSS, Framer Motion, Recharts, Zustand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B55AC"/>
                </a:solidFill>
              </a:rPr>
              <a:t>🔹 Backend API
</a:t>
            </a:r>
            <a:r>
              <a:rPr sz="950">
                <a:solidFill>
                  <a:srgbClr val="282828"/>
                </a:solidFill>
              </a:rPr>
              <a:t>Node.js, Express, TypeScript, Prisma ORM, Socket.IO, Bull Queue, JWT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B55AC"/>
                </a:solidFill>
              </a:rPr>
              <a:t>🔹 AI Microservice
</a:t>
            </a:r>
            <a:r>
              <a:rPr sz="950">
                <a:solidFill>
                  <a:srgbClr val="282828"/>
                </a:solidFill>
              </a:rPr>
              <a:t>Python 3.11+, FastAPI, Sentence-Transformers, Scikit-Learn TF-IDF, PyTorch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B55AC"/>
                </a:solidFill>
              </a:rPr>
              <a:t>🔹 Databases &amp; Cache
</a:t>
            </a:r>
            <a:r>
              <a:rPr sz="950">
                <a:solidFill>
                  <a:srgbClr val="282828"/>
                </a:solidFill>
              </a:rPr>
              <a:t>PostgreSQL 16, Redis 7 (with zero-config SQLite local fallback)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1B55AC"/>
                </a:solidFill>
              </a:rPr>
              <a:t>🔹 DevOps &amp; Gateway
</a:t>
            </a:r>
            <a:r>
              <a:rPr sz="950">
                <a:solidFill>
                  <a:srgbClr val="282828"/>
                </a:solidFill>
              </a:rPr>
              <a:t>Docker, Docker Compose, Nginx, OpenAPI/Swagger 3.0 REST Gateway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B55AC"/>
                </a:solidFill>
                <a:latin typeface="Arial"/>
              </a:defRPr>
            </a:pPr>
            <a:r>
              <a:t>FEASIBILITY, VIABILITY &amp; BUSINESS POTENTIAL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64008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1B5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E1E40"/>
                </a:solidFill>
              </a:defRPr>
            </a:pPr>
            <a:r>
              <a:t>Team NUMM</a:t>
            </a:r>
            <a:br/>
            <a:r>
              <a:t>(SIH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537960"/>
            <a:ext cx="3962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@SIH Idea submission- Template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474720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1B55AC"/>
                </a:solidFill>
              </a:defRPr>
            </a:pPr>
            <a:r>
              <a:t>FEASIBILITY ANALYSIS</a:t>
            </a:r>
            <a:br/>
            <a:r>
              <a:t>⭐⭐⭐⭐⭐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🔧 Infrastructure Reusability:
</a:t>
            </a:r>
            <a:r>
              <a:rPr sz="950">
                <a:solidFill>
                  <a:srgbClr val="282828"/>
                </a:solidFill>
              </a:rPr>
              <a:t>Connects to existing CPSE ERP systems (SAP, Oracle, Baan) via non-invasive REST APIs and standard CSV ingestion—zero rip-and-replace.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🔧 Scalable Deployment:
</a:t>
            </a:r>
            <a:r>
              <a:rPr sz="950">
                <a:solidFill>
                  <a:srgbClr val="282828"/>
                </a:solidFill>
              </a:rPr>
              <a:t>Containerized microservice architecture deployable on MeitY GovCloud/NIC or on-premise CPSE datacenters with horizontal autoscaling.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🔧 Resilient Hybrid AI:
</a:t>
            </a:r>
            <a:r>
              <a:rPr sz="950">
                <a:solidFill>
                  <a:srgbClr val="282828"/>
                </a:solidFill>
              </a:rPr>
              <a:t>Sentence-Transformers run on standard CPUs/GPUs, with automatic graceful fallback to Scikit-Learn TF-IDF during resource limits.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🔧 Taxonomy Standardization:
</a:t>
            </a:r>
            <a:r>
              <a:rPr sz="950">
                <a:solidFill>
                  <a:srgbClr val="282828"/>
                </a:solidFill>
              </a:rPr>
              <a:t>Built upon universal 8-digit UNSPSC standard covering 1,500+ commodity segments, ensuring cross-industry compatibility.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1188720"/>
            <a:ext cx="3474720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28A745"/>
                </a:solidFill>
              </a:defRPr>
            </a:pPr>
            <a:r>
              <a:t>VIABILITY &amp; TRUST</a:t>
            </a:r>
            <a:br/>
            <a:r>
              <a:t>✔️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🛡️ Proven AI Architecture:
</a:t>
            </a:r>
            <a:r>
              <a:rPr sz="950">
                <a:solidFill>
                  <a:srgbClr val="282828"/>
                </a:solidFill>
              </a:rPr>
              <a:t>State-of-the-art dense semantic embeddings validated against 909+ real-world CPSE material descriptions with &gt;92% matching accuracy.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🛡️ Human-in-the-Loop Governance:
</a:t>
            </a:r>
            <a:r>
              <a:rPr sz="950">
                <a:solidFill>
                  <a:srgbClr val="282828"/>
                </a:solidFill>
              </a:rPr>
              <a:t>Harmonization Workbench requires domain analyst signoff (A/R/E/N shortcuts), eliminating automated false-merger risks.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🛡️ Guaranteed Accountability:
</a:t>
            </a:r>
            <a:r>
              <a:rPr sz="950">
                <a:solidFill>
                  <a:srgbClr val="282828"/>
                </a:solidFill>
              </a:rPr>
              <a:t>Immutable, cryptographically verifiable append-only audit trail logs every classification, edit, approval, and user action for CAG audits.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🛡️ Multi-Tenant Isolation:
</a:t>
            </a:r>
            <a:r>
              <a:rPr sz="950">
                <a:solidFill>
                  <a:srgbClr val="282828"/>
                </a:solidFill>
              </a:rPr>
              <a:t>Strict role-based access control (Super Admin, CPSE Analyst, Reviewer) preserves enterprise catalog confidentiality while collaborating.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80" y="1188720"/>
            <a:ext cx="3474720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DAA520"/>
                </a:solidFill>
              </a:defRPr>
            </a:pPr>
            <a:r>
              <a:t>BUSINESS POTENTIAL</a:t>
            </a:r>
            <a:br/>
            <a:r>
              <a:t>📈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💰 Aggregated Procurement:
</a:t>
            </a:r>
            <a:r>
              <a:rPr sz="950">
                <a:solidFill>
                  <a:srgbClr val="282828"/>
                </a:solidFill>
              </a:rPr>
              <a:t>Enables cross-CPSE bulk procurement tenders for shared MRO/spares, realizing 15–25% price discounts on high-value industrial inventory.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💰 Working Capital Optimization:
</a:t>
            </a:r>
            <a:r>
              <a:rPr sz="950">
                <a:solidFill>
                  <a:srgbClr val="282828"/>
                </a:solidFill>
              </a:rPr>
              <a:t>Eliminates redundant safety stocks and dead buffer inventory, releasing hundreds of crores into active operations.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💰 Emergency Spare Inter-Lending:
</a:t>
            </a:r>
            <a:r>
              <a:rPr sz="950">
                <a:solidFill>
                  <a:srgbClr val="282828"/>
                </a:solidFill>
              </a:rPr>
              <a:t>CPSEs in close geographical proximity (e.g. refineries, power plants) can borrow critical spares during outages, slashing downtime.</a:t>
            </a:r>
          </a:p>
          <a:p>
            <a:pPr>
              <a:spcAft>
                <a:spcPts val="600"/>
              </a:spcAft>
            </a:pPr>
            <a:r>
              <a:rPr b="1" sz="1050">
                <a:solidFill>
                  <a:srgbClr val="0E1E40"/>
                </a:solidFill>
              </a:rPr>
              <a:t>💰 Direct GeM Alignment:
</a:t>
            </a:r>
            <a:r>
              <a:rPr sz="950">
                <a:solidFill>
                  <a:srgbClr val="282828"/>
                </a:solidFill>
              </a:rPr>
              <a:t>Harmonized NMCs integrate with Government e-Marketplace (GeM) for frictionless unified public procurement and vendor rationalization.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2800" b="1">
                <a:solidFill>
                  <a:srgbClr val="1B55AC"/>
                </a:solidFill>
                <a:latin typeface="Arial"/>
              </a:defRPr>
            </a:pPr>
            <a:r>
              <a:t>QUANTIFIABLE IMPACT &amp; NATIONAL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82880"/>
            <a:ext cx="1371600" cy="640080"/>
          </a:xfrm>
          <a:prstGeom prst="roundRect">
            <a:avLst/>
          </a:prstGeom>
          <a:solidFill>
            <a:srgbClr val="F0F4FA"/>
          </a:solidFill>
          <a:ln w="19050">
            <a:solidFill>
              <a:srgbClr val="1B55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1000" b="1">
                <a:solidFill>
                  <a:srgbClr val="0E1E40"/>
                </a:solidFill>
              </a:defRPr>
            </a:pPr>
            <a:r>
              <a:t>Team NUMM</a:t>
            </a:r>
            <a:br/>
            <a:r>
              <a:t>(SIH 2025)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6537960"/>
            <a:ext cx="39620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787878"/>
                </a:solidFill>
              </a:defRPr>
            </a:pPr>
            <a:r>
              <a:t>@SIH Idea submission- Template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931920" cy="5120640"/>
          </a:xfrm>
          <a:prstGeom prst="roundRect">
            <a:avLst/>
          </a:prstGeom>
          <a:solidFill>
            <a:srgbClr val="FAFCFF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spcAft>
                <a:spcPts val="800"/>
              </a:spcAft>
              <a:defRPr b="1" sz="1400">
                <a:solidFill>
                  <a:srgbClr val="0E1E40"/>
                </a:solidFill>
              </a:defRPr>
            </a:pPr>
            <a:r>
              <a:t>CORE IMPACT METRICS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🎯 30–40% Catalog Deduplication
</a:t>
            </a:r>
            <a:r>
              <a:rPr sz="950">
                <a:solidFill>
                  <a:srgbClr val="282828"/>
                </a:solidFill>
              </a:rPr>
              <a:t>Consolidates thousands of fragmented, redundant local part numbers into authoritative National Material Codes.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🎯 85% Faster Cataloging Turnaround
</a:t>
            </a:r>
            <a:r>
              <a:rPr sz="950">
                <a:solidFill>
                  <a:srgbClr val="282828"/>
                </a:solidFill>
              </a:rPr>
              <a:t>Reduces manual material standardization cycles from 3–4 weeks of committee meetings to seconds of automated AI inference.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🎯 15–20% Procurement Cost Savings
</a:t>
            </a:r>
            <a:r>
              <a:rPr sz="950">
                <a:solidFill>
                  <a:srgbClr val="282828"/>
                </a:solidFill>
              </a:rPr>
              <a:t>Unlocks multi-crore savings through centralized CPSE bulk rate contracting and aggregated vendor negotiations.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🎯 Zero ERP Disruption
</a:t>
            </a:r>
            <a:r>
              <a:rPr sz="950">
                <a:solidFill>
                  <a:srgbClr val="282828"/>
                </a:solidFill>
              </a:rPr>
              <a:t>Bridges disparate ERPs (SAP, Oracle, Baan) via non-invasive mappings without requiring costly ERP re-implementations.</a:t>
            </a:r>
          </a:p>
        </p:txBody>
      </p:sp>
      <p:pic>
        <p:nvPicPr>
          <p:cNvPr id="6" name="Picture 5" descr="procurement_impact_178905991327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88720"/>
            <a:ext cx="4114800" cy="51206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961120" y="1188720"/>
            <a:ext cx="2651760" cy="5120640"/>
          </a:xfrm>
          <a:prstGeom prst="roundRect">
            <a:avLst/>
          </a:prstGeom>
          <a:solidFill>
            <a:srgbClr val="F5F8FD"/>
          </a:solidFill>
          <a:ln>
            <a:solidFill>
              <a:srgbClr val="D2E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/>
          <a:lstStyle/>
          <a:p>
            <a:pPr algn="ctr">
              <a:spcAft>
                <a:spcPts val="1000"/>
              </a:spcAft>
              <a:defRPr b="1" sz="1400">
                <a:solidFill>
                  <a:srgbClr val="0E1E40"/>
                </a:solidFill>
              </a:defRPr>
            </a:pPr>
            <a:r>
              <a:t>BENEFIT PILLARS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🌟 Operational
</a:t>
            </a:r>
            <a:r>
              <a:rPr sz="950">
                <a:solidFill>
                  <a:srgbClr val="282828"/>
                </a:solidFill>
              </a:rPr>
              <a:t>Elimination of catalog chaos, instant specification diffs, and streamlined inventory auditing.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🌟 Economic
</a:t>
            </a:r>
            <a:r>
              <a:rPr sz="950">
                <a:solidFill>
                  <a:srgbClr val="282828"/>
                </a:solidFill>
              </a:rPr>
              <a:t>Thousands of crores saved via pooled procurement tenders, minimized buffer stock, and reduced write-offs.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🌟 Strategic
</a:t>
            </a:r>
            <a:r>
              <a:rPr sz="950">
                <a:solidFill>
                  <a:srgbClr val="282828"/>
                </a:solidFill>
              </a:rPr>
              <a:t>Real-time national inventory visibility for the Ministry of Heavy Industries and emergency response readiness.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1B55AC"/>
                </a:solidFill>
              </a:rPr>
              <a:t>🌟 Technological
</a:t>
            </a:r>
            <a:r>
              <a:rPr sz="950">
                <a:solidFill>
                  <a:srgbClr val="282828"/>
                </a:solidFill>
              </a:rPr>
              <a:t>Cutting-edge NLP microservices, zero-shot taxonomy classifier, and secure webhook event dispatcher.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